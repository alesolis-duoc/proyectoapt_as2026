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5" r:id="rId3"/>
    <p:sldId id="270" r:id="rId4"/>
    <p:sldId id="271" r:id="rId5"/>
    <p:sldId id="273" r:id="rId6"/>
    <p:sldId id="274" r:id="rId7"/>
    <p:sldId id="276" r:id="rId8"/>
    <p:sldId id="275" r:id="rId9"/>
    <p:sldId id="269" r:id="rId10"/>
    <p:sldId id="277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6A5D9-A322-A837-2DDF-8332D5F7B3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5032" y="227"/>
            <a:ext cx="5518066" cy="2268559"/>
          </a:xfrm>
        </p:spPr>
        <p:txBody>
          <a:bodyPr/>
          <a:lstStyle/>
          <a:p>
            <a:pPr algn="l"/>
            <a:r>
              <a:rPr lang="es-CL" dirty="0"/>
              <a:t>Proyecto APT</a:t>
            </a:r>
            <a:br>
              <a:rPr lang="es-CL" dirty="0"/>
            </a:br>
            <a:r>
              <a:rPr lang="es-CL" dirty="0"/>
              <a:t>Servimatch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CABAAA-C42B-830A-2295-A63D5CA4DD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5032" y="4139073"/>
            <a:ext cx="5357600" cy="2697480"/>
          </a:xfrm>
        </p:spPr>
        <p:txBody>
          <a:bodyPr>
            <a:normAutofit/>
          </a:bodyPr>
          <a:lstStyle/>
          <a:p>
            <a:pPr algn="l"/>
            <a:r>
              <a:rPr lang="es-CL" dirty="0"/>
              <a:t>Nombre: Alexander Nicolas Solis Castillo</a:t>
            </a:r>
          </a:p>
          <a:p>
            <a:pPr algn="l"/>
            <a:r>
              <a:rPr lang="es-CL" dirty="0"/>
              <a:t>Sección: 010v</a:t>
            </a:r>
          </a:p>
          <a:p>
            <a:pPr algn="l"/>
            <a:r>
              <a:rPr lang="es-CL" dirty="0"/>
              <a:t>Profesor: Reginaldo el Carmen Salinas Bruna</a:t>
            </a:r>
          </a:p>
        </p:txBody>
      </p:sp>
      <p:pic>
        <p:nvPicPr>
          <p:cNvPr id="5" name="Picture 4" descr="Archivo:Logo DuocUC.svg - Wikipedia, la enciclopedia libre">
            <a:extLst>
              <a:ext uri="{FF2B5EF4-FFF2-40B4-BE49-F238E27FC236}">
                <a16:creationId xmlns:a16="http://schemas.microsoft.com/office/drawing/2014/main" id="{2B2C7E98-0D5B-19A0-62F9-BEA66BBCD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976" y="6040047"/>
            <a:ext cx="3240024" cy="796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238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E14D4-6936-066B-D67A-79DF72A68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6A9DF-A5E8-559E-7486-0BB010E0C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608" y="0"/>
            <a:ext cx="7958331" cy="1077229"/>
          </a:xfrm>
        </p:spPr>
        <p:txBody>
          <a:bodyPr/>
          <a:lstStyle/>
          <a:p>
            <a:pPr algn="l"/>
            <a:r>
              <a:rPr lang="es-CL" dirty="0"/>
              <a:t>Índice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DA62C6-8ECE-24A8-59CA-7ABE625CA4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1608" y="536851"/>
            <a:ext cx="9513136" cy="3686795"/>
          </a:xfrm>
        </p:spPr>
        <p:txBody>
          <a:bodyPr>
            <a:normAutofit/>
          </a:bodyPr>
          <a:lstStyle/>
          <a:p>
            <a:r>
              <a:rPr lang="es-CL" dirty="0"/>
              <a:t>Arquitectura</a:t>
            </a:r>
          </a:p>
          <a:p>
            <a:r>
              <a:rPr lang="es-CL" dirty="0"/>
              <a:t>Diseño BDD</a:t>
            </a:r>
          </a:p>
          <a:p>
            <a:r>
              <a:rPr lang="es-CL" dirty="0" err="1"/>
              <a:t>Backend</a:t>
            </a:r>
            <a:endParaRPr lang="es-CL" dirty="0"/>
          </a:p>
          <a:p>
            <a:r>
              <a:rPr lang="es-CL" dirty="0" err="1"/>
              <a:t>FrontEnd</a:t>
            </a:r>
            <a:endParaRPr lang="es-CL" dirty="0"/>
          </a:p>
          <a:p>
            <a:r>
              <a:rPr lang="es-CL" dirty="0"/>
              <a:t>Evidencias</a:t>
            </a:r>
          </a:p>
          <a:p>
            <a:r>
              <a:rPr lang="es-CL" dirty="0"/>
              <a:t>Conclusión </a:t>
            </a:r>
          </a:p>
        </p:txBody>
      </p:sp>
    </p:spTree>
    <p:extLst>
      <p:ext uri="{BB962C8B-B14F-4D97-AF65-F5344CB8AC3E}">
        <p14:creationId xmlns:p14="http://schemas.microsoft.com/office/powerpoint/2010/main" val="2437827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D5568-E494-E49A-0376-97C0054C9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414ED-167A-3837-8BB6-1B4A86244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608" y="0"/>
            <a:ext cx="7958331" cy="1077229"/>
          </a:xfrm>
        </p:spPr>
        <p:txBody>
          <a:bodyPr/>
          <a:lstStyle/>
          <a:p>
            <a:pPr algn="l"/>
            <a:r>
              <a:rPr lang="es-CL" dirty="0"/>
              <a:t>Arquitectura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8E5B0-E44E-4137-D24D-7AA1ED12D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1608" y="536851"/>
            <a:ext cx="9513136" cy="3686795"/>
          </a:xfrm>
        </p:spPr>
        <p:txBody>
          <a:bodyPr>
            <a:normAutofit/>
          </a:bodyPr>
          <a:lstStyle/>
          <a:p>
            <a:r>
              <a:rPr lang="es-CL" dirty="0" err="1"/>
              <a:t>Frontend</a:t>
            </a:r>
            <a:r>
              <a:rPr lang="es-CL" dirty="0"/>
              <a:t>: </a:t>
            </a:r>
            <a:r>
              <a:rPr lang="es-CL" dirty="0" err="1"/>
              <a:t>React</a:t>
            </a:r>
            <a:r>
              <a:rPr lang="es-CL" dirty="0"/>
              <a:t> + Vite</a:t>
            </a:r>
          </a:p>
          <a:p>
            <a:r>
              <a:rPr lang="es-CL" dirty="0" err="1"/>
              <a:t>Backend</a:t>
            </a:r>
            <a:r>
              <a:rPr lang="es-CL" dirty="0"/>
              <a:t>: Python + </a:t>
            </a:r>
            <a:r>
              <a:rPr lang="es-CL" dirty="0" err="1"/>
              <a:t>FastAPI</a:t>
            </a:r>
            <a:endParaRPr lang="es-CL" dirty="0"/>
          </a:p>
          <a:p>
            <a:r>
              <a:rPr lang="es-CL" dirty="0"/>
              <a:t>Acceso a datos: </a:t>
            </a:r>
            <a:r>
              <a:rPr lang="es-CL" dirty="0" err="1"/>
              <a:t>SQLAlchemy</a:t>
            </a:r>
            <a:endParaRPr lang="es-CL" dirty="0"/>
          </a:p>
          <a:p>
            <a:r>
              <a:rPr lang="es-CL" dirty="0"/>
              <a:t>Base de datos: PostgreSQL</a:t>
            </a:r>
          </a:p>
          <a:p>
            <a:endParaRPr lang="es-CL" dirty="0"/>
          </a:p>
          <a:p>
            <a:endParaRPr lang="es-C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699E86-466B-DC93-4886-4DB0C09618FF}"/>
              </a:ext>
            </a:extLst>
          </p:cNvPr>
          <p:cNvSpPr txBox="1"/>
          <p:nvPr/>
        </p:nvSpPr>
        <p:spPr>
          <a:xfrm>
            <a:off x="1011608" y="4298832"/>
            <a:ext cx="101955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 err="1"/>
              <a:t>React</a:t>
            </a:r>
            <a:r>
              <a:rPr lang="es-CL" dirty="0"/>
              <a:t> muestra la interfaz del proyecto, </a:t>
            </a:r>
            <a:r>
              <a:rPr lang="es-CL" dirty="0" err="1"/>
              <a:t>FastAPi</a:t>
            </a:r>
            <a:r>
              <a:rPr lang="es-CL" dirty="0"/>
              <a:t> procesa las solicitudes para las conexiones y </a:t>
            </a:r>
            <a:r>
              <a:rPr lang="es-CL" dirty="0" err="1"/>
              <a:t>SQLAlchemy</a:t>
            </a:r>
            <a:r>
              <a:rPr lang="es-CL" dirty="0"/>
              <a:t> conecta el </a:t>
            </a:r>
            <a:r>
              <a:rPr lang="es-CL" dirty="0" err="1"/>
              <a:t>backend</a:t>
            </a:r>
            <a:r>
              <a:rPr lang="es-CL" dirty="0"/>
              <a:t> con la </a:t>
            </a:r>
            <a:r>
              <a:rPr lang="es-CL" dirty="0" err="1"/>
              <a:t>bdd</a:t>
            </a:r>
            <a:r>
              <a:rPr lang="es-CL" dirty="0"/>
              <a:t> de PostgreSQL, donde se almacenan los datos de los usuarios.</a:t>
            </a:r>
          </a:p>
        </p:txBody>
      </p:sp>
      <p:pic>
        <p:nvPicPr>
          <p:cNvPr id="5" name="Picture 4" descr="Archivo:Pg logo.png - Wikipedia, la enciclopedia libre">
            <a:extLst>
              <a:ext uri="{FF2B5EF4-FFF2-40B4-BE49-F238E27FC236}">
                <a16:creationId xmlns:a16="http://schemas.microsoft.com/office/drawing/2014/main" id="{55EE22F4-DC07-1556-D457-726CC9657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0955" y="110691"/>
            <a:ext cx="1187577" cy="1225579"/>
          </a:xfrm>
          <a:prstGeom prst="rect">
            <a:avLst/>
          </a:prstGeom>
        </p:spPr>
      </p:pic>
      <p:pic>
        <p:nvPicPr>
          <p:cNvPr id="6" name="Picture 5" descr="Archivo:Python-logo.png - Wikipedia, la enciclopedia libre">
            <a:extLst>
              <a:ext uri="{FF2B5EF4-FFF2-40B4-BE49-F238E27FC236}">
                <a16:creationId xmlns:a16="http://schemas.microsoft.com/office/drawing/2014/main" id="{F8B2165A-2F00-1E33-F143-C519C47E2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170" y="1066081"/>
            <a:ext cx="1270973" cy="1392698"/>
          </a:xfrm>
          <a:prstGeom prst="rect">
            <a:avLst/>
          </a:prstGeom>
        </p:spPr>
      </p:pic>
      <p:pic>
        <p:nvPicPr>
          <p:cNvPr id="8" name="Picture 7" descr="Fastapi Icon Icon | Free Download PNG &amp; SVG | SVG Logos">
            <a:extLst>
              <a:ext uri="{FF2B5EF4-FFF2-40B4-BE49-F238E27FC236}">
                <a16:creationId xmlns:a16="http://schemas.microsoft.com/office/drawing/2014/main" id="{84CD6279-92AE-665F-413B-6EF9B937B6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6956" y="1467961"/>
            <a:ext cx="1712214" cy="1712214"/>
          </a:xfrm>
          <a:prstGeom prst="rect">
            <a:avLst/>
          </a:prstGeom>
        </p:spPr>
      </p:pic>
      <p:pic>
        <p:nvPicPr>
          <p:cNvPr id="9" name="Picture 8" descr="File:React-icon.svg - Wikimedia Commons">
            <a:extLst>
              <a:ext uri="{FF2B5EF4-FFF2-40B4-BE49-F238E27FC236}">
                <a16:creationId xmlns:a16="http://schemas.microsoft.com/office/drawing/2014/main" id="{73021FAF-5C22-7EB6-4AA3-3ABDBB96BC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8073" y="101307"/>
            <a:ext cx="1563731" cy="1392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934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BAB27-B7A2-A308-AC53-C23E92D04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8D339-E88D-4461-8E1F-0EF31B7DC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608" y="0"/>
            <a:ext cx="7958331" cy="1077229"/>
          </a:xfrm>
        </p:spPr>
        <p:txBody>
          <a:bodyPr/>
          <a:lstStyle/>
          <a:p>
            <a:pPr algn="l"/>
            <a:r>
              <a:rPr lang="es-CL" dirty="0"/>
              <a:t>Diseño BDD</a:t>
            </a:r>
            <a:br>
              <a:rPr lang="es-CL" dirty="0"/>
            </a:br>
            <a:endParaRPr lang="es-C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F3B91-EE55-8171-EB0C-59F3584A74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1608" y="536851"/>
            <a:ext cx="9513136" cy="3686795"/>
          </a:xfrm>
        </p:spPr>
        <p:txBody>
          <a:bodyPr>
            <a:normAutofit/>
          </a:bodyPr>
          <a:lstStyle/>
          <a:p>
            <a:r>
              <a:rPr lang="es-CL" dirty="0"/>
              <a:t>Motor: PostgreSQL</a:t>
            </a:r>
          </a:p>
          <a:p>
            <a:r>
              <a:rPr lang="es-CL" dirty="0"/>
              <a:t>ORM: </a:t>
            </a:r>
            <a:r>
              <a:rPr lang="es-CL" dirty="0" err="1"/>
              <a:t>SQLAlchemy</a:t>
            </a:r>
            <a:endParaRPr lang="es-CL" dirty="0"/>
          </a:p>
          <a:p>
            <a:r>
              <a:rPr lang="es-CL" dirty="0"/>
              <a:t>Tablas principales: usuarios, trabajadores y </a:t>
            </a:r>
            <a:r>
              <a:rPr lang="es-CL" dirty="0" err="1"/>
              <a:t>categorias</a:t>
            </a:r>
            <a:endParaRPr lang="es-CL" dirty="0"/>
          </a:p>
          <a:p>
            <a:r>
              <a:rPr lang="es-CL" dirty="0"/>
              <a:t>Relaciones: vinculan a los usuarios con sus perfiles profesionales y las categorías de sus oficios</a:t>
            </a:r>
          </a:p>
          <a:p>
            <a:endParaRPr lang="es-CL" dirty="0"/>
          </a:p>
        </p:txBody>
      </p:sp>
      <p:pic>
        <p:nvPicPr>
          <p:cNvPr id="5" name="Picture 4" descr="Archivo:Pg logo.png - Wikipedia, la enciclopedia libre">
            <a:extLst>
              <a:ext uri="{FF2B5EF4-FFF2-40B4-BE49-F238E27FC236}">
                <a16:creationId xmlns:a16="http://schemas.microsoft.com/office/drawing/2014/main" id="{7D1950B7-D216-0474-C277-258C8920D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0955" y="110691"/>
            <a:ext cx="1187577" cy="12255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677B1DB-4F77-0D54-2B0A-EB07F6F67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7416" y="3028810"/>
            <a:ext cx="5434584" cy="382919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657074-733F-AE9D-BB02-42215791ABFD}"/>
              </a:ext>
            </a:extLst>
          </p:cNvPr>
          <p:cNvSpPr txBox="1"/>
          <p:nvPr/>
        </p:nvSpPr>
        <p:spPr>
          <a:xfrm>
            <a:off x="1011608" y="3712464"/>
            <a:ext cx="56452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Lo importante dentro </a:t>
            </a:r>
            <a:r>
              <a:rPr lang="es-CL" dirty="0" err="1"/>
              <a:t>dentro</a:t>
            </a:r>
            <a:r>
              <a:rPr lang="es-CL" dirty="0"/>
              <a:t> del modelo de base de datos es el uso de </a:t>
            </a:r>
            <a:r>
              <a:rPr lang="es-CL" dirty="0" err="1"/>
              <a:t>SQLAlchemy</a:t>
            </a:r>
            <a:r>
              <a:rPr lang="es-CL" dirty="0"/>
              <a:t> el cual permite que el </a:t>
            </a:r>
            <a:r>
              <a:rPr lang="es-CL" dirty="0" err="1"/>
              <a:t>backend</a:t>
            </a:r>
            <a:r>
              <a:rPr lang="es-CL" dirty="0"/>
              <a:t> y </a:t>
            </a:r>
            <a:r>
              <a:rPr lang="es-CL" dirty="0" err="1"/>
              <a:t>bdd</a:t>
            </a:r>
            <a:r>
              <a:rPr lang="es-CL" dirty="0"/>
              <a:t> logren una comunicación efectiva facilitando las consultas y modificación de datos mediante Python.</a:t>
            </a:r>
          </a:p>
        </p:txBody>
      </p:sp>
    </p:spTree>
    <p:extLst>
      <p:ext uri="{BB962C8B-B14F-4D97-AF65-F5344CB8AC3E}">
        <p14:creationId xmlns:p14="http://schemas.microsoft.com/office/powerpoint/2010/main" val="830208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0A593-6022-35DD-D7DC-B249933C8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F1AFD-EC81-AB4D-0C51-AFCCBB7E0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608" y="0"/>
            <a:ext cx="7958331" cy="1077229"/>
          </a:xfrm>
        </p:spPr>
        <p:txBody>
          <a:bodyPr/>
          <a:lstStyle/>
          <a:p>
            <a:pPr algn="l"/>
            <a:r>
              <a:rPr lang="es-CL" dirty="0" err="1"/>
              <a:t>Backend</a:t>
            </a:r>
            <a:br>
              <a:rPr lang="es-CL" dirty="0"/>
            </a:br>
            <a:endParaRPr lang="es-C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CA228-FB96-C2CA-177F-D18995409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1608" y="536851"/>
            <a:ext cx="5855536" cy="2782421"/>
          </a:xfrm>
        </p:spPr>
        <p:txBody>
          <a:bodyPr>
            <a:normAutofit/>
          </a:bodyPr>
          <a:lstStyle/>
          <a:p>
            <a:r>
              <a:rPr lang="es-CL" dirty="0"/>
              <a:t>Tecnologías: Python + </a:t>
            </a:r>
            <a:r>
              <a:rPr lang="es-CL" dirty="0" err="1"/>
              <a:t>FastAPI</a:t>
            </a:r>
            <a:endParaRPr lang="es-CL" dirty="0"/>
          </a:p>
          <a:p>
            <a:r>
              <a:rPr lang="es-CL" dirty="0"/>
              <a:t>API REST: comunicación entre </a:t>
            </a:r>
            <a:r>
              <a:rPr lang="es-CL" dirty="0" err="1"/>
              <a:t>FrontEnd</a:t>
            </a:r>
            <a:r>
              <a:rPr lang="es-CL" dirty="0"/>
              <a:t> y BDD</a:t>
            </a:r>
          </a:p>
          <a:p>
            <a:r>
              <a:rPr lang="es-CL" dirty="0"/>
              <a:t>Swagger: documentación y pruebas de la funcionabilidad de la API</a:t>
            </a:r>
          </a:p>
        </p:txBody>
      </p:sp>
      <p:pic>
        <p:nvPicPr>
          <p:cNvPr id="6" name="Picture 5" descr="Archivo:Python-logo.png - Wikipedia, la enciclopedia libre">
            <a:extLst>
              <a:ext uri="{FF2B5EF4-FFF2-40B4-BE49-F238E27FC236}">
                <a16:creationId xmlns:a16="http://schemas.microsoft.com/office/drawing/2014/main" id="{C9A457C2-8604-8028-9A9C-E09198CF5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195" y="75263"/>
            <a:ext cx="1270973" cy="1392698"/>
          </a:xfrm>
          <a:prstGeom prst="rect">
            <a:avLst/>
          </a:prstGeom>
        </p:spPr>
      </p:pic>
      <p:pic>
        <p:nvPicPr>
          <p:cNvPr id="8" name="Picture 7" descr="Fastapi Icon Icon | Free Download PNG &amp; SVG | SVG Logos">
            <a:extLst>
              <a:ext uri="{FF2B5EF4-FFF2-40B4-BE49-F238E27FC236}">
                <a16:creationId xmlns:a16="http://schemas.microsoft.com/office/drawing/2014/main" id="{0E0B813A-0CBA-E7FD-DA0B-CFC59F8BB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9493" y="919321"/>
            <a:ext cx="1712214" cy="17122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E33850-C8C7-303F-1A98-566ED1C5CB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6171" y="3966929"/>
            <a:ext cx="5855536" cy="278242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A583EEC-707A-138C-055E-21190F8449A8}"/>
              </a:ext>
            </a:extLst>
          </p:cNvPr>
          <p:cNvSpPr txBox="1"/>
          <p:nvPr/>
        </p:nvSpPr>
        <p:spPr>
          <a:xfrm>
            <a:off x="1106424" y="3017520"/>
            <a:ext cx="57607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El </a:t>
            </a:r>
            <a:r>
              <a:rPr lang="es-CL" dirty="0" err="1"/>
              <a:t>backend</a:t>
            </a:r>
            <a:r>
              <a:rPr lang="es-CL" dirty="0"/>
              <a:t> se desarrollo con </a:t>
            </a:r>
            <a:r>
              <a:rPr lang="es-CL" dirty="0" err="1"/>
              <a:t>FastAPI</a:t>
            </a:r>
            <a:r>
              <a:rPr lang="es-CL" dirty="0"/>
              <a:t> por su sencilles para procesar las solicitudes de las aplicación, gestionar usuarios y trabajadores, además de entregar los datos hacia el </a:t>
            </a:r>
            <a:r>
              <a:rPr lang="es-CL" dirty="0" err="1"/>
              <a:t>frontend</a:t>
            </a:r>
            <a:r>
              <a:rPr lang="es-CL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57197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765D3-34D9-0A8B-0823-B85D845F7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9E9CF-8C94-9385-B57C-B97B2AC8E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608" y="0"/>
            <a:ext cx="7958331" cy="1077229"/>
          </a:xfrm>
        </p:spPr>
        <p:txBody>
          <a:bodyPr/>
          <a:lstStyle/>
          <a:p>
            <a:pPr algn="l"/>
            <a:r>
              <a:rPr lang="es-CL" dirty="0" err="1"/>
              <a:t>FrontEnd</a:t>
            </a:r>
            <a:endParaRPr lang="es-CL" dirty="0"/>
          </a:p>
        </p:txBody>
      </p:sp>
      <p:pic>
        <p:nvPicPr>
          <p:cNvPr id="9" name="Picture 8" descr="File:React-icon.svg - Wikimedia Commons">
            <a:extLst>
              <a:ext uri="{FF2B5EF4-FFF2-40B4-BE49-F238E27FC236}">
                <a16:creationId xmlns:a16="http://schemas.microsoft.com/office/drawing/2014/main" id="{555617D4-0B31-CFE8-9961-CF185BDFB7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3437" y="110451"/>
            <a:ext cx="1563731" cy="13926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DE064D4-3CBC-22D5-F227-7FDAD1E13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899" y="877993"/>
            <a:ext cx="5806695" cy="25510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7FFCBE8-04FF-2AF8-FC17-8C538EE659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899" y="3596231"/>
            <a:ext cx="7687748" cy="295316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1405A39-C678-32F7-0511-1D4E4F4D4608}"/>
              </a:ext>
            </a:extLst>
          </p:cNvPr>
          <p:cNvSpPr txBox="1"/>
          <p:nvPr/>
        </p:nvSpPr>
        <p:spPr>
          <a:xfrm>
            <a:off x="7114032" y="1325880"/>
            <a:ext cx="3346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 err="1"/>
              <a:t>React</a:t>
            </a:r>
            <a:r>
              <a:rPr lang="es-CL" dirty="0"/>
              <a:t> + Vite + CSS</a:t>
            </a:r>
          </a:p>
        </p:txBody>
      </p:sp>
    </p:spTree>
    <p:extLst>
      <p:ext uri="{BB962C8B-B14F-4D97-AF65-F5344CB8AC3E}">
        <p14:creationId xmlns:p14="http://schemas.microsoft.com/office/powerpoint/2010/main" val="3674139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5584E-389C-DF07-3327-D8AC0B383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EC0F6-8077-39C4-12BD-E7A01262A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608" y="0"/>
            <a:ext cx="7958331" cy="1077229"/>
          </a:xfrm>
        </p:spPr>
        <p:txBody>
          <a:bodyPr/>
          <a:lstStyle/>
          <a:p>
            <a:pPr algn="l"/>
            <a:r>
              <a:rPr lang="es-CL" dirty="0" err="1"/>
              <a:t>FrontEnd</a:t>
            </a:r>
            <a:endParaRPr lang="es-CL" dirty="0"/>
          </a:p>
        </p:txBody>
      </p:sp>
      <p:pic>
        <p:nvPicPr>
          <p:cNvPr id="9" name="Picture 8" descr="File:React-icon.svg - Wikimedia Commons">
            <a:extLst>
              <a:ext uri="{FF2B5EF4-FFF2-40B4-BE49-F238E27FC236}">
                <a16:creationId xmlns:a16="http://schemas.microsoft.com/office/drawing/2014/main" id="{2791305D-BA90-E9AD-475E-269DD0A87B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3437" y="110451"/>
            <a:ext cx="1563731" cy="13926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426A9E6-548C-EF11-2210-6B3A09F3D7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32" y="806800"/>
            <a:ext cx="5266359" cy="28490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0F20BA-910E-5645-6E47-887F7C4875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32" y="3796599"/>
            <a:ext cx="5266359" cy="2902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936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D897E-D522-9556-E4C4-DF8B53236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4CE83-FE30-6BAA-9FC3-32A70CF52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608" y="0"/>
            <a:ext cx="7958331" cy="1077229"/>
          </a:xfrm>
        </p:spPr>
        <p:txBody>
          <a:bodyPr/>
          <a:lstStyle/>
          <a:p>
            <a:pPr algn="l"/>
            <a:r>
              <a:rPr lang="es-CL" dirty="0" err="1"/>
              <a:t>FrontEnd</a:t>
            </a:r>
            <a:endParaRPr lang="es-CL" dirty="0"/>
          </a:p>
        </p:txBody>
      </p:sp>
      <p:pic>
        <p:nvPicPr>
          <p:cNvPr id="9" name="Picture 8" descr="File:React-icon.svg - Wikimedia Commons">
            <a:extLst>
              <a:ext uri="{FF2B5EF4-FFF2-40B4-BE49-F238E27FC236}">
                <a16:creationId xmlns:a16="http://schemas.microsoft.com/office/drawing/2014/main" id="{95F51F7F-DB2F-FBA9-64F9-A4DC809D3C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3437" y="110451"/>
            <a:ext cx="1563731" cy="13926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96D0D89-6882-5A23-1BFA-BD668D6FE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608" y="485502"/>
            <a:ext cx="5606180" cy="29434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D2B16F-C81D-84ED-3896-FC06C88E91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" y="3721608"/>
            <a:ext cx="6022521" cy="14081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9CD86A0-4254-33E1-FFF1-EC0491AE64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6983" y="3303176"/>
            <a:ext cx="3370110" cy="2437063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D0E72A4A-22CB-8813-9582-809288C8E768}"/>
              </a:ext>
            </a:extLst>
          </p:cNvPr>
          <p:cNvSpPr/>
          <p:nvPr/>
        </p:nvSpPr>
        <p:spPr>
          <a:xfrm>
            <a:off x="7168896" y="4037076"/>
            <a:ext cx="1060704" cy="777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07210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3FBBC-CDFB-9E77-7C7E-691B454F3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CA0F6-5F77-9E91-E44D-7A1792F9C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097" y="17480"/>
            <a:ext cx="2527120" cy="1077229"/>
          </a:xfrm>
        </p:spPr>
        <p:txBody>
          <a:bodyPr/>
          <a:lstStyle/>
          <a:p>
            <a:r>
              <a:rPr lang="es-CL" dirty="0" err="1"/>
              <a:t>Frontend</a:t>
            </a:r>
            <a:endParaRPr lang="es-CL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AAA5A19F-1633-E8AA-7D3B-797CA6CDD5A9}"/>
              </a:ext>
            </a:extLst>
          </p:cNvPr>
          <p:cNvSpPr/>
          <p:nvPr/>
        </p:nvSpPr>
        <p:spPr>
          <a:xfrm rot="5400000">
            <a:off x="5191507" y="4046092"/>
            <a:ext cx="532603" cy="4274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8282D21-1C88-8FF8-0BF3-998A5D43A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593" y="740761"/>
            <a:ext cx="7174545" cy="31720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E3AE65-7C1C-3336-FC76-BE65D5D69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593" y="3993532"/>
            <a:ext cx="4579632" cy="2698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064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6F5ED-E24F-17BA-4A80-FACFDF5FF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A8852-439C-063D-4DD8-4967CDD4A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608" y="0"/>
            <a:ext cx="7958331" cy="1077229"/>
          </a:xfrm>
        </p:spPr>
        <p:txBody>
          <a:bodyPr/>
          <a:lstStyle/>
          <a:p>
            <a:pPr algn="l"/>
            <a:r>
              <a:rPr lang="es-CL" dirty="0"/>
              <a:t>Pendientes</a:t>
            </a:r>
            <a:br>
              <a:rPr lang="es-CL" dirty="0"/>
            </a:br>
            <a:endParaRPr lang="es-C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5FCF6-BAF2-BC4A-6291-C310B9D04E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1608" y="538614"/>
            <a:ext cx="5855536" cy="2782421"/>
          </a:xfrm>
        </p:spPr>
        <p:txBody>
          <a:bodyPr>
            <a:normAutofit/>
          </a:bodyPr>
          <a:lstStyle/>
          <a:p>
            <a:r>
              <a:rPr lang="es-CL" dirty="0"/>
              <a:t>Sistema de agendamientos</a:t>
            </a:r>
          </a:p>
          <a:p>
            <a:r>
              <a:rPr lang="es-CL" dirty="0"/>
              <a:t>Revisión final con pruebas</a:t>
            </a:r>
          </a:p>
          <a:p>
            <a:r>
              <a:rPr lang="es-CL" dirty="0"/>
              <a:t>Mejoras para el escalado del proyecto</a:t>
            </a:r>
          </a:p>
          <a:p>
            <a:endParaRPr lang="es-CL" dirty="0"/>
          </a:p>
        </p:txBody>
      </p:sp>
      <p:pic>
        <p:nvPicPr>
          <p:cNvPr id="4" name="Picture 3" descr="Google calendar logo - free Icon PNG, SVG, ICO, ICNS | Icon-Icons">
            <a:extLst>
              <a:ext uri="{FF2B5EF4-FFF2-40B4-BE49-F238E27FC236}">
                <a16:creationId xmlns:a16="http://schemas.microsoft.com/office/drawing/2014/main" id="{CF6E41B7-53EA-49CA-7FA2-7E208BD7B0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1399" y="3855720"/>
            <a:ext cx="2438400" cy="2438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01C553-9A4F-D476-43F0-0647950CC7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608" y="2718162"/>
            <a:ext cx="5606180" cy="294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612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F7B05-1BFB-2280-6290-A5D402F93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D3339-21E0-6326-E0A3-82CEBEF6B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608" y="0"/>
            <a:ext cx="7958331" cy="1077229"/>
          </a:xfrm>
        </p:spPr>
        <p:txBody>
          <a:bodyPr/>
          <a:lstStyle/>
          <a:p>
            <a:pPr algn="l"/>
            <a:r>
              <a:rPr lang="es-CL" dirty="0"/>
              <a:t>Conclusión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A067E-ACCE-BBDF-3C6F-0D4EE2F2C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1608" y="70747"/>
            <a:ext cx="9967124" cy="40166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L" dirty="0"/>
              <a:t>El desarrollo permitió integrar distintas tecnologías en una aplicación funcional. Las funcionalidades de búsqueda y contacto cumplen con los objetivos principales de la visión original del proyecto. Con la implementación del sistema de agendamiento y algunos ajustes, el MVP estaría completo, quedando como etapas futuras su mejora y escalamiento.</a:t>
            </a:r>
          </a:p>
        </p:txBody>
      </p:sp>
    </p:spTree>
    <p:extLst>
      <p:ext uri="{BB962C8B-B14F-4D97-AF65-F5344CB8AC3E}">
        <p14:creationId xmlns:p14="http://schemas.microsoft.com/office/powerpoint/2010/main" val="1765827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Modulo</Template>
  <TotalTime>165</TotalTime>
  <Words>289</Words>
  <Application>Microsoft Office PowerPoint</Application>
  <PresentationFormat>Widescreen</PresentationFormat>
  <Paragraphs>39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MS Shell Dlg 2</vt:lpstr>
      <vt:lpstr>Wingdings</vt:lpstr>
      <vt:lpstr>Wingdings 3</vt:lpstr>
      <vt:lpstr>Madison</vt:lpstr>
      <vt:lpstr>Proyecto APT Servimatch</vt:lpstr>
      <vt:lpstr>Índice</vt:lpstr>
      <vt:lpstr>Arquitectura</vt:lpstr>
      <vt:lpstr>Diseño BDD </vt:lpstr>
      <vt:lpstr>Backend </vt:lpstr>
      <vt:lpstr>FrontEnd</vt:lpstr>
      <vt:lpstr>FrontEnd</vt:lpstr>
      <vt:lpstr>FrontEnd</vt:lpstr>
      <vt:lpstr>Frontend</vt:lpstr>
      <vt:lpstr>Pendientes </vt:lpstr>
      <vt:lpstr>Conclusión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krendo 11</dc:creator>
  <cp:lastModifiedBy>krendo 11</cp:lastModifiedBy>
  <cp:revision>4</cp:revision>
  <dcterms:created xsi:type="dcterms:W3CDTF">2026-09-02T20:46:31Z</dcterms:created>
  <dcterms:modified xsi:type="dcterms:W3CDTF">2026-10-14T23:20:00Z</dcterms:modified>
</cp:coreProperties>
</file>